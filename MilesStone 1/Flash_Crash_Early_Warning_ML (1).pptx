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Per-Stage P99 Latency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P99 Latency (ms)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Ingest</c:v>
                  </c:pt>
                  <c:pt idx="1">
                    <c:v>Features</c:v>
                  </c:pt>
                  <c:pt idx="2">
                    <c:v>Stage 1</c:v>
                  </c:pt>
                  <c:pt idx="3">
                    <c:v>Stage 2</c:v>
                  </c:pt>
                  <c:pt idx="4">
                    <c:v>Stage 3
(TCN)</c:v>
                  </c:pt>
                  <c:pt idx="5">
                    <c:v>Stage 4
(Transformer)</c:v>
                  </c:pt>
                  <c:pt idx="6">
                    <c:v>Stage 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2</c:v>
                </c:pt>
                <c:pt idx="2">
                  <c:v>0.1</c:v>
                </c:pt>
                <c:pt idx="3">
                  <c:v>1</c:v>
                </c:pt>
                <c:pt idx="4">
                  <c:v>8</c:v>
                </c:pt>
                <c:pt idx="5">
                  <c:v>15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C"/>
                    </a:solidFill>
                    <a:latin typeface="Arial"/>
                  </a:rPr>
                  <a:t>Milliseconds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Price-threshold circuit breaker</c:v>
                </c:pt>
              </c:strCache>
            </c:strRef>
          </c:tx>
          <c:spPr>
            <a:solidFill>
              <a:srgbClr val="415A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Refusal
(slow bleed)</c:v>
                  </c:pt>
                  <c:pt idx="1">
                    <c:v>Spoofing
spike</c:v>
                  </c:pt>
                  <c:pt idx="2">
                    <c:v>Liquidity
evaporation</c:v>
                  </c:pt>
                  <c:pt idx="3">
                    <c:v>Correlation
breakdown</c:v>
                  </c:pt>
                  <c:pt idx="4">
                    <c:v>Cancel-rate
surge</c:v>
                  </c:pt>
                  <c:pt idx="5">
                    <c:v>Cross-venue
arbitrage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</c:v>
                </c:pt>
                <c:pt idx="1">
                  <c:v>45</c:v>
                </c:pt>
                <c:pt idx="2">
                  <c:v>90</c:v>
                </c:pt>
                <c:pt idx="3">
                  <c:v>240</c:v>
                </c:pt>
                <c:pt idx="4">
                  <c:v>60</c:v>
                </c:pt>
                <c:pt idx="5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C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B7C"/>
                    </a:solidFill>
                    <a:latin typeface="Arial"/>
                  </a:rPr>
                  <a:t>Seconds (after)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Microstructure ML detector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Refusal
(slow bleed)</c:v>
                  </c:pt>
                  <c:pt idx="1">
                    <c:v>Spoofing
spike</c:v>
                  </c:pt>
                  <c:pt idx="2">
                    <c:v>Liquidity
evaporation</c:v>
                  </c:pt>
                  <c:pt idx="3">
                    <c:v>Correlation
breakdown</c:v>
                  </c:pt>
                  <c:pt idx="4">
                    <c:v>Cancel-rate
surge</c:v>
                  </c:pt>
                  <c:pt idx="5">
                    <c:v>Cross-venue
arbitrage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350</c:v>
                </c:pt>
                <c:pt idx="1">
                  <c:v>200</c:v>
                </c:pt>
                <c:pt idx="2">
                  <c:v>400</c:v>
                </c:pt>
                <c:pt idx="3">
                  <c:v>500</c:v>
                </c:pt>
                <c:pt idx="4">
                  <c:v>180</c:v>
                </c:pt>
                <c:pt idx="5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C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B7C"/>
                    </a:solidFill>
                    <a:latin typeface="Arial"/>
                  </a:rPr>
                  <a:t>Milliseconds (before)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6273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1188720"/>
            <a:ext cx="3840480" cy="3840480"/>
          </a:xfrm>
          <a:prstGeom prst="ellipse">
            <a:avLst/>
          </a:prstGeom>
          <a:solidFill>
            <a:srgbClr val="415A77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PROJECT BRIEF  ·  QUANT RESEARCH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241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 Crash Early Warning
</a:t>
            </a:r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Market Microstructure ML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detector on limit-order-book streams that flags order-book imbalance, spoofing, and liquidity evaporation — 50 to 500 milliseconds before price dislocation. Built on a five-stage hybrid cascade with p99 latency under 30 ms.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5532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Z.ai Quant Research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5257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5532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FAANG / Quant Interview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5257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5532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the rot before the price moves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crashes destroy billions in minutes, and price-based circuit breakers only trigger after the damage is done. This project detects microstructure anomalies in the limit-order book — imbalance, spoofing, liquidity evaporation — 50 to 500 ms before price dislocation, giving risk desks a window to act instead of explain.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543800" y="146304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7818120" y="16916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 TRILLION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818120" y="2377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market value wiped out in 36 minutes during the May 6, 2010 flash crash — circuit breakers fired only after the crash began.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" y="4983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hybrid detection cascade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41605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ms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02152" y="4983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end-to-end latency, tick to alert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41605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50–500 ms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91072" y="4983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window before dislocation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41605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9992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79992" y="4983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free datasets used for training/eval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crash a flash crash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sudden, deep price decline followed by partial or full recovery, occurring in a liquid market with no obvious fundamental catalyst. The drop unfolds over seconds to minutes — not hours or days.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5877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withdrawal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2898648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makers and HFTs cancel orders en masse, widening spreads and amplifying moves.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6393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Cross-asset contagion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97280" y="3950208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 in one instrument spreads rapidly to correlated instruments, even without fundamental links.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54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69087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Self-reinforcing dynamics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97280" y="5001768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Stop-losses, margin calls, and liquidations trigger further declines — a feedback loop breakers can't interrupt in 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43800" y="1463040"/>
            <a:ext cx="4114800" cy="4892040"/>
          </a:xfrm>
          <a:prstGeom prst="roundRect">
            <a:avLst>
              <a:gd name="adj" fmla="val 1778"/>
            </a:avLst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CRASHES, ONE PATTERN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1812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18120" y="24414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Equities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1812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−9.2% in 36 min · $1T wiped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18120" y="3319272"/>
            <a:ext cx="3566160" cy="0"/>
          </a:xfrm>
          <a:prstGeom prst="line">
            <a:avLst/>
          </a:prstGeom>
          <a:noFill/>
          <a:ln w="9525">
            <a:solidFill>
              <a:srgbClr val="415A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18120" y="38587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818120" y="4251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in hours · $8B liquidated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18120" y="4736592"/>
            <a:ext cx="3566160" cy="0"/>
          </a:xfrm>
          <a:prstGeom prst="line">
            <a:avLst/>
          </a:prstGeom>
          <a:noFill/>
          <a:ln w="9525">
            <a:solidFill>
              <a:srgbClr val="415A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4983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18120" y="52760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LUNA / UST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818120" y="5669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−99.9% in 48 h · $40B destroyed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1.2 · CASE STUDIES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flash crashes, three markets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566160" cy="109728"/>
          </a:xfrm>
          <a:prstGeom prst="round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6, 2010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EQUITIES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542032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large E-Mini S&amp;P 500 sell order triggered HFT liquidity withdrawal and stub-quote execution. SEC/CFTC report cites the trigger; the cascade was pure microstructure.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4434840"/>
            <a:ext cx="3063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617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min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4672" y="5120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crash-to-bottom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25112" y="150876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1508760"/>
            <a:ext cx="3566160" cy="109728"/>
          </a:xfrm>
          <a:prstGeom prst="roundRect">
            <a:avLst/>
          </a:prstGeom>
          <a:solidFill>
            <a:srgbClr val="415A77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19, 2021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81144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81144" y="2542032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fell from ~$52,000 to $30,000 as leveraged liquidations cascaded. Binance halted withdrawals mid-crash, removing the deepest liquidity pool at the worst moment.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81144" y="4434840"/>
            <a:ext cx="3063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4617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15A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81144" y="5120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liquidated in hours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01584" y="150876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1508760"/>
            <a:ext cx="3566160" cy="109728"/>
          </a:xfrm>
          <a:prstGeom prst="roundRect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8357616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2022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57616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/ UST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57616" y="2542032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lost its dollar peg, triggering a death spiral across UST and LUNA. Unlike 2010/2021, this unfolded over hours — but the microstructure signals were just as visible.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57616" y="4434840"/>
            <a:ext cx="3063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7616" y="4617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hrs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357616" y="5120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total collapse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1.3 · 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price-based circuit breakers fail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breakers halt trading at 7% / 13% / 20% intraday S&amp;P moves — but by the time price has dropped 7%, the microstructure damage already happened seconds to minutes earlier. A microstructure detector inverts the design: watch the book, not the price.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393192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Price-Based Circuit Breaker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Microstructure ML Detector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Trigger signal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</a:rPr>
                        <a:t>Price move exceeds threshold (e.g., S&amp;P −7%)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5C3A"/>
                          </a:solidFill>
                        </a:rPr>
                        <a:t>Order-book imbalance, depth, cancellations, correlation shift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Timing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</a:rPr>
                        <a:t>Reactive — fires after the crash begins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5C3A"/>
                          </a:solidFill>
                        </a:rPr>
                        <a:t>Predictive — fires 200–500 ms before dislocation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Granularity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</a:rPr>
                        <a:t>Market-wide or single-stock; binary halt/no-halt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5C3A"/>
                          </a:solidFill>
                        </a:rPr>
                        <a:t>Per-instrument score + cross-symbol attribution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Adaptability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</a:rPr>
                        <a:t>Static thresholds; manual recalibration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5C3A"/>
                          </a:solidFill>
                        </a:rPr>
                        <a:t>Learns from data; adapts via retraining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False-positive cost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</a:rPr>
                        <a:t>Low — halts are rare and reversible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5C3A"/>
                          </a:solidFill>
                        </a:rPr>
                        <a:t>Medium — false alerts trigger hedging cost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microstructure signals that precede a crash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099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Order-Book Imbalance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 = (Vbid − Vask)/(Vbid + Vask). A sudden tilt — bid depth dropping 78% while ask holds — leads downward price pressure.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7099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709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4568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&amp; Layering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4568" y="2697480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orders placed with no intent to execute, cancelled before fill, to mislead about supply or demand.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7099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709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Evaporation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9328" y="2697480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withdrawal of quoted depth by market makers as adverse-selection risk rises — depth fell ~75% before the 2010 crash.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416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455371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Spikes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5029200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Cancel-to-trade ratio jumping from ~50:1 to 900:1 in 200 ms signals traders fleeing the book.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40416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44568" y="455371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Cross-Symbol Correlation Breakdown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44568" y="5029200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correlated assets decouple as arbitrageurs lose the liquidity to keep prices in sync — SPY vs. components fell from 0.94 to 0.31.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40416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39328" y="455371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Signature Shifts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9328" y="5029200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Micro-return variance spikes and the variance ratio drops, diverging from the normal diurnal pattern.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SOLUTION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five-stage hybrid detection cascade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filters first, expensive confirmers last — borrowed from AIOps and fraud detection. Most ticks exit at Stage 1; only suspects reach the deep models. End-to-end p99 latency: 27 ms, well within the 200–500 ms early-warning window.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84832" cy="3200400"/>
          </a:xfrm>
          <a:prstGeom prst="roundRect">
            <a:avLst>
              <a:gd name="adj" fmla="val 3070"/>
            </a:avLst>
          </a:prstGeom>
          <a:solidFill>
            <a:srgbClr val="16273D"/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5146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3081528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370332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Micro-price velocity, spread z-score, depth-ratio thresholds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5029200"/>
            <a:ext cx="1755648" cy="0"/>
          </a:xfrm>
          <a:prstGeom prst="line">
            <a:avLst/>
          </a:prstGeom>
          <a:noFill/>
          <a:ln w="9525">
            <a:solidFill>
              <a:srgbClr val="415A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5093208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&lt;0.1 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5303520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pass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33472" y="3703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98064" y="2331720"/>
            <a:ext cx="2084832" cy="3200400"/>
          </a:xfrm>
          <a:prstGeom prst="roundRect">
            <a:avLst>
              <a:gd name="adj" fmla="val 3070"/>
            </a:avLst>
          </a:prstGeom>
          <a:solidFill>
            <a:srgbClr val="16273D"/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2656" y="25146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2962656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62656" y="3081528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62656" y="370332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on 12 imbalance / cancellation / depth features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62656" y="5029200"/>
            <a:ext cx="1755648" cy="0"/>
          </a:xfrm>
          <a:prstGeom prst="line">
            <a:avLst/>
          </a:prstGeom>
          <a:noFill/>
          <a:ln w="9525">
            <a:solidFill>
              <a:srgbClr val="415A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62656" y="5093208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62656" y="5303520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pass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82896" y="3703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47488" y="2331720"/>
            <a:ext cx="2084832" cy="3200400"/>
          </a:xfrm>
          <a:prstGeom prst="roundRect">
            <a:avLst>
              <a:gd name="adj" fmla="val 3070"/>
            </a:avLst>
          </a:prstGeom>
          <a:solidFill>
            <a:srgbClr val="16273D"/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25146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0" y="3081528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Net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212080" y="370332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8-layer dilated causal TCN, ~500 ms receptive field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12080" y="5029200"/>
            <a:ext cx="1755648" cy="0"/>
          </a:xfrm>
          <a:prstGeom prst="line">
            <a:avLst/>
          </a:prstGeom>
          <a:noFill/>
          <a:ln w="9525">
            <a:solidFill>
              <a:srgbClr val="415A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5093208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5303520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pass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0" y="3703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96912" y="2331720"/>
            <a:ext cx="2084832" cy="3200400"/>
          </a:xfrm>
          <a:prstGeom prst="roundRect">
            <a:avLst>
              <a:gd name="adj" fmla="val 3070"/>
            </a:avLst>
          </a:prstGeom>
          <a:solidFill>
            <a:srgbClr val="16273D"/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61504" y="25146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4" name="Text 32"/>
          <p:cNvSpPr/>
          <p:nvPr/>
        </p:nvSpPr>
        <p:spPr>
          <a:xfrm>
            <a:off x="7461504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61504" y="3081528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Cross-Symbol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461504" y="370332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self-attention across 20 correlated assets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61504" y="5029200"/>
            <a:ext cx="1755648" cy="0"/>
          </a:xfrm>
          <a:prstGeom prst="line">
            <a:avLst/>
          </a:prstGeom>
          <a:noFill/>
          <a:ln w="9525">
            <a:solidFill>
              <a:srgbClr val="415A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61504" y="5093208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61504" y="5303520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pass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81744" y="3703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546336" y="2331720"/>
            <a:ext cx="2084832" cy="3200400"/>
          </a:xfrm>
          <a:prstGeom prst="roundRect">
            <a:avLst>
              <a:gd name="adj" fmla="val 3070"/>
            </a:avLst>
          </a:prstGeom>
          <a:solidFill>
            <a:srgbClr val="16273D"/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10928" y="25146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43" name="Text 41"/>
          <p:cNvSpPr/>
          <p:nvPr/>
        </p:nvSpPr>
        <p:spPr>
          <a:xfrm>
            <a:off x="9710928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710928" y="3081528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710928" y="370332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fusion; routes alert to risk desk if posterior &gt; τ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710928" y="5029200"/>
            <a:ext cx="1755648" cy="0"/>
          </a:xfrm>
          <a:prstGeom prst="line">
            <a:avLst/>
          </a:prstGeom>
          <a:noFill/>
          <a:ln w="9525">
            <a:solidFill>
              <a:srgbClr val="415A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10928" y="5093208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710928" y="5303520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~12/hr alerts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ticks: 100% of every LOB update  →  Final alerts: ~12/hr after cross-symbol + Bayesian fusion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3.1–3.2 · CASCADE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Stages 1–2: cheap filters at tick speed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128016" cy="457200"/>
          </a:xfrm>
          <a:prstGeom prst="round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37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Statistical Pre-Filter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2468880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single LOB update, computing three statistics per tick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03580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3035808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Micro-price velocity over 50 ms and 200 ms windows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602736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602736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Bid-ask spread z-score against a rolling baseline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16966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4169664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Depth-ratio between top-of-book and deeper levels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73659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736592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adapt to volatility regime via exponential weighting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532120"/>
            <a:ext cx="493776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623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60320" y="56875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ticks rejected as normal, in &lt;0.1 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1783080"/>
            <a:ext cx="128016" cy="457200"/>
          </a:xfrm>
          <a:prstGeom prst="roundRect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737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Microstructure Scorer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24688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30568" y="2468880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trained on 12 microstructure features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0" y="303580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0568" y="3035808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Order-book imbalance at three depth levels, cancel-to-trade ratio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83680" y="3602736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0568" y="3602736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VPIN (order-flow toxicity), Kyle's lambda (price impact)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0" y="416966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30568" y="4169664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Effective/realized spread and two volatility estimators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83680" y="473659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30568" y="4736592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mixed-type features, no distributional assumptions, SHAP explainability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37960" y="5532120"/>
            <a:ext cx="493776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5623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ms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275320" y="56875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latency, 20% of inputs passed onward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3.3–3.4 &amp; 4.1–4.2 · DEEP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Stages 3–4: temporal and cross-symbol deep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55648"/>
            <a:ext cx="128016" cy="411480"/>
          </a:xfrm>
          <a:prstGeom prst="roundRect">
            <a:avLst/>
          </a:prstGeom>
          <a:solidFill>
            <a:srgbClr val="415A7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190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Temporal Convolutional Network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377440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dilated causal conv layers, kernel 3, dilations 1–128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834640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~510 ms receptive field at 1 ms tick resolution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3291840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convolutions: never sees future data (online-safe)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7490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749040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faster than an LSTM on GPU; stable training, fixed receptive field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50876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1755648"/>
            <a:ext cx="128016" cy="411480"/>
          </a:xfrm>
          <a:prstGeom prst="roundRect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7190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Cross-Symbol Transformer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3774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30568" y="2377440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encoder, 8 attention heads, 20 correlated assets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8346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30568" y="2834640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ms context; self-attention across the symbol axis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30568" y="3291840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anchors to a market-wide vector (SPY / BTC)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7490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30568" y="3749040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per-symbol anomaly score + systemic-risk score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90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TCN OVER LSTM?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0749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394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convolution vs. sequential steps — ~5× faster on GPU.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80560" y="50749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training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480560" y="5394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vanishing/exploding gradients on long sequences.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38160" y="50749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receptive field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38160" y="5394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function of kernel size &amp; dilation, unlike data-dependent LSTM memory.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3.5 &amp; 4.3 · AGGREGATION &amp; TRAINING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5 aggregation, and how the models learn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Bayesian Aggregator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scores from Stages 2–4 via Bayesian model averaging, weighted by each stage's per-regime confidence. If the posterior probability exceeds tunable threshold τ, an alert routes to the trading-risk desk via Slack and PagerDuty. Alert metadata — timestamp, contributing features, per-stage scores, affected symbols — is logged to ClickHouse for forensic analysis.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480060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latency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ms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p99 tick-to-alert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Training Strategy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286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Self-Supervised Pretraining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262432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random timesteps in the input sequence; train the TCN to predict masked values on months of normal LOB data — no crash labels required.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Supervised Fine-Tuning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390448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the three labeled case-study crashes plus synthetic anomalies, using focal loss to down-weight the 99.99% of easy, normal ticks and focus on rare pre-crash windows.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4983480"/>
            <a:ext cx="4892040" cy="0"/>
          </a:xfrm>
          <a:prstGeom prst="line">
            <a:avLst/>
          </a:prstGeom>
          <a:noFill/>
          <a:ln w="9525">
            <a:solidFill>
              <a:srgbClr val="415A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51206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occur at roughly 1-in-10,000 tick rarity — this combination is what makes the system trainable on real, imbalanced data.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4.4 ·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features across 5 families, ~2 ms to extract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21408" cy="356616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2121408" cy="777240"/>
          </a:xfrm>
          <a:prstGeom prst="roundRect">
            <a:avLst>
              <a:gd name="adj" fmla="val 8235"/>
            </a:avLst>
          </a:prstGeom>
          <a:solidFill>
            <a:srgbClr val="0D1B2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2121408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Price &amp; 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18470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Mid-price velocity (50/200ms), micro-price, spread (bps), trade arrival rate, cancel-to-trade ratio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98064" y="1508760"/>
            <a:ext cx="2121408" cy="356616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8064" y="1508760"/>
            <a:ext cx="2121408" cy="777240"/>
          </a:xfrm>
          <a:prstGeom prst="roundRect">
            <a:avLst>
              <a:gd name="adj" fmla="val 8235"/>
            </a:avLst>
          </a:prstGeom>
          <a:solidFill>
            <a:srgbClr val="415A77"/>
          </a:solidFill>
          <a:ln/>
        </p:spPr>
      </p:sp>
      <p:sp>
        <p:nvSpPr>
          <p:cNvPr id="12" name="Shape 10"/>
          <p:cNvSpPr/>
          <p:nvPr/>
        </p:nvSpPr>
        <p:spPr>
          <a:xfrm>
            <a:off x="2798064" y="1965960"/>
            <a:ext cx="2121408" cy="320040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13" name="Text 11"/>
          <p:cNvSpPr/>
          <p:nvPr/>
        </p:nvSpPr>
        <p:spPr>
          <a:xfrm>
            <a:off x="2935224" y="160020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Depth &amp; Imbalance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35224" y="199339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35224" y="2423160"/>
            <a:ext cx="18470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Bid/ask depth L1–L10, order-book imbalance (OBI), weighted mid-price, depth slope, liquidity vacuum flag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47488" y="1508760"/>
            <a:ext cx="2121408" cy="356616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1508760"/>
            <a:ext cx="2121408" cy="777240"/>
          </a:xfrm>
          <a:prstGeom prst="roundRect">
            <a:avLst>
              <a:gd name="adj" fmla="val 8235"/>
            </a:avLst>
          </a:prstGeom>
          <a:solidFill>
            <a:srgbClr val="C1121F"/>
          </a:solidFill>
          <a:ln/>
        </p:spPr>
      </p:sp>
      <p:sp>
        <p:nvSpPr>
          <p:cNvPr id="18" name="Shape 16"/>
          <p:cNvSpPr/>
          <p:nvPr/>
        </p:nvSpPr>
        <p:spPr>
          <a:xfrm>
            <a:off x="5047488" y="1965960"/>
            <a:ext cx="2121408" cy="320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5184648" y="160020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Flow &amp; Toxicity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84648" y="199339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84648" y="2423160"/>
            <a:ext cx="18470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VPIN (order-flow toxicity), Kyle's lambda (price impact), effective spread, realized spread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96912" y="1508760"/>
            <a:ext cx="2121408" cy="356616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1508760"/>
            <a:ext cx="2121408" cy="777240"/>
          </a:xfrm>
          <a:prstGeom prst="roundRect">
            <a:avLst>
              <a:gd name="adj" fmla="val 8235"/>
            </a:avLst>
          </a:prstGeom>
          <a:solidFill>
            <a:srgbClr val="E0A458"/>
          </a:solidFill>
          <a:ln/>
        </p:spPr>
      </p:sp>
      <p:sp>
        <p:nvSpPr>
          <p:cNvPr id="24" name="Shape 22"/>
          <p:cNvSpPr/>
          <p:nvPr/>
        </p:nvSpPr>
        <p:spPr>
          <a:xfrm>
            <a:off x="7296912" y="1965960"/>
            <a:ext cx="2121408" cy="32004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25" name="Text 23"/>
          <p:cNvSpPr/>
          <p:nvPr/>
        </p:nvSpPr>
        <p:spPr>
          <a:xfrm>
            <a:off x="7434072" y="160020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Volatility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34072" y="199339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34072" y="2423160"/>
            <a:ext cx="18470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volatility (1s), micro-price variance ratio, Garman-Klass estimator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46336" y="1508760"/>
            <a:ext cx="2121408" cy="356616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46336" y="1508760"/>
            <a:ext cx="2121408" cy="777240"/>
          </a:xfrm>
          <a:prstGeom prst="roundRect">
            <a:avLst>
              <a:gd name="adj" fmla="val 8235"/>
            </a:avLst>
          </a:prstGeom>
          <a:solidFill>
            <a:srgbClr val="6B4C7A"/>
          </a:solidFill>
          <a:ln/>
        </p:spPr>
      </p:sp>
      <p:sp>
        <p:nvSpPr>
          <p:cNvPr id="30" name="Shape 28"/>
          <p:cNvSpPr/>
          <p:nvPr/>
        </p:nvSpPr>
        <p:spPr>
          <a:xfrm>
            <a:off x="9546336" y="1965960"/>
            <a:ext cx="2121408" cy="32004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1" name="Text 29"/>
          <p:cNvSpPr/>
          <p:nvPr/>
        </p:nvSpPr>
        <p:spPr>
          <a:xfrm>
            <a:off x="9683496" y="160020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Cross-Symbol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83496" y="199339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83496" y="2423160"/>
            <a:ext cx="18470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return correlation, lead-lag coefficient, co-integration residual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EEF1F5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394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Stages 1–2 consume F1+F2 (cheap, every tick). Stage 3 (TCN) consumes F1–F4 as a time-windowed tensor. Stage 4 (Transformer) consumes F5 plus raw embeddings from correlated assets — keeping p99 latency under 30 ms.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DATA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dataset is real, free, and public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52044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19456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Granularity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FI-2010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10ms ticks, L10 depth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Free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Academic benchmark &amp; baselines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Binance public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Trade + depth CSVs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Free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Historical crash windows (BTC, LUNA)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Binance WebSocket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Real-time L2 + trades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Free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Live demo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LOBSTER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Nanosecond, full LOB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Free (academic)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Equity credibility (NASDAQ, 2007+)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NASDAQ TotalView-ITCH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Raw protocol feed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Paid (samples free)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Low-latency parsing demo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Tardis.dev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Tick L2/L3, crypto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Paid (free tier)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LUNA crash L3 data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strategy blends three sources: post-hoc price-move thresholds (e.g., 2% in 60s for crypto), official SEC/CFTC report timestamps, and synthetic anomaly injection (spoofing, liquidity withdrawal, correlation breakdown) to augment the rare positive class.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 hot path, GPU inference, FAANG-familiar tooling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91640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PROXY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32095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tokio + tungstenite, zero-copy messaging. Sub-millisecond guarantees the Python GIL can't provide.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1691640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44568" y="1965960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Flink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44568" y="2423160"/>
            <a:ext cx="32095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20 microstructure features in real time with exactly-once semantics and native windowing.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691640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39328" y="1965960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39328" y="2423160"/>
            <a:ext cx="32095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Online-offline parity, preventing train/serve feature drift. Integrates with Flink and Parquet/S3.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023360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4297680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Triton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9808" y="4754880"/>
            <a:ext cx="32095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TCN + Transformer on GPU with dynamic batching; keeps p99 stable under load.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4023360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44568" y="4297680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ClickHouse + S3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44568" y="4754880"/>
            <a:ext cx="32095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for sub-second analytics on 100M+ rows; S3/Parquet for cold storage and replay.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4023360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39328" y="4297680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+ Grafana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39328" y="4754880"/>
            <a:ext cx="32095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precision/recall, latency percentiles, alert rate, and drift score (KS-test) per feature.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6.2 · LATENCY BUDGET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ms p99, against a 50 ms target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D1B2A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691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 ms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321040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p99, tick arrival → alert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92440" y="30632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3246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 ms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32104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p99 threshold — 22 ms of headroom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92440" y="466344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3–4 dominate the budget (23 ms combined) but run on under 1% of ticks thanks to the cascade filter — so average per-tick cost stays dominated by cheap Stages 1–2 (3 ms total), keeping the system affordable at high tick rates.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EVALUATION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regimes, because accuracy alone breaks 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are ~1:10,000 rare, breaking accuracy as a metric; temporal structure breaks simple cross-validation; and the false-positive/false-negative cost asymmetry means a single F1 score isn't enough.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Backtest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6 months of LOB data, inject controlled crash patterns. Compares per-stage precision, recall, and time-to-detect vs. a price-threshold baseline.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4297680"/>
            <a:ext cx="310896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4348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detector find crashes the baseline misses — and how much earlier?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5112" y="2240280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Shadow Mode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28803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alongside production circuit breakers for 30 days without firing real alerts. Target: &gt;80% of market events preceded by a detector alert.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53712" y="4297680"/>
            <a:ext cx="310896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44348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detector work on live data it has never seen?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1584" y="2240280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Red Team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0184" y="28803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100 synthetic crash patterns from current spoofing research quarterly, with fresh attack vectors each cycle.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30184" y="4297680"/>
            <a:ext cx="310896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44348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detector survive an adversary who knows it exists?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440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tracked: PR-AUC (preferred over ROC-AUC for imbalance), time-to-detect (TTD), false-positive rate per trading hour, and cost-weighted F1 (false negatives weighted 10× false positives).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7.3 · BENCHMARK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detector fires before the crash, not after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breaker: seconds AFTER the crash begins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detector: milliseconds BEFORE the crash begins</a:t>
            </a:r>
            <a:endParaRPr lang="en-US" sz="11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73736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axis scales: the breaker reacts tens to hundreds of seconds after a crash begins; the detector fires hundreds of milliseconds before it does. Target envelope: detect 80% of crashes with &gt;200 ms of early warning, false-positive rate below 2/hour, p99 latency below 50 ms — all met offline; 80% online shadow-mode detection gates production deployment.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· RISKS &amp; CAVEATS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accounting of what can go wrong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91640"/>
            <a:ext cx="128016" cy="12801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61848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Cost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011680"/>
            <a:ext cx="32095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on a false alarm carries real premium cost. Mitigation: τ tuned for cost-optimal precision, not max recall.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44568" y="1691640"/>
            <a:ext cx="128016" cy="12801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61848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2011680"/>
            <a:ext cx="32095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microstructure evolves with new rules and order types. Mitigation: weekly retraining + KS-test drift monitor triggering emergency retrain.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9328" y="1691640"/>
            <a:ext cx="128016" cy="12801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577072" y="161848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Adaptation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9328" y="2011680"/>
            <a:ext cx="32095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Spoofers adapt once they know a detector exists. Mitigation: quarterly adversarial red-team with fresh attack vectors.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023360"/>
            <a:ext cx="128016" cy="12801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395020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4343400"/>
            <a:ext cx="32095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connections, exchange outages, clock drift, schema changes. Mitigation: Rust proxy gap detection, schema validation, per-input quality scores.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4568" y="4023360"/>
            <a:ext cx="128016" cy="12801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4782312" y="395020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Scope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44568" y="4343400"/>
            <a:ext cx="32095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NMS Rule 611 and MiFID II RTS 6 govern automated trading controls. Mitigation: alerts route to a human risk desk, not automated trades.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4023360"/>
            <a:ext cx="128016" cy="12801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8577072" y="395020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39328" y="4343400"/>
            <a:ext cx="32095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realized crashes are labeled; near-misses are missing. Mitigation: explicit near-miss labeling and calibrated synthetic injection.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10–11 · ROADMAP &amp; OUTLOOK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six-week MVP to a defensible research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SIX-WEEK MVP ROADMAP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8013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— Rust ingest, FI-2010 loader, ClickHouse schema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500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36829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20 features in Flink, validated on FI-2010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169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93522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model — self-supervised pretrain + focal-loss fine-tune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838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502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full cascade assembly with latency profiling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50792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50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069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on real crashes — BTC 2021 and LUNA 2022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17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463600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demo, Next.js dashboard, blog post, open-source release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1417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1783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foundation models for zero-shot transfer across markets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21671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167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 for cross-venue arbitrage detection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46520" y="255117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255117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RL-tuned alert thresholds adapting to market regime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46520" y="293522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29352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across exchanges without data sharing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33192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33192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/ FPGA inference for exchange co-location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46520" y="39319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16273D"/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MARKET FIT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434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Citadel, Jane Street, Two Sigma, DE Shaw, and Hudson River Trading all hire for exactly this skillset. Real-time streaming (Flink), low-latency systems (Rust), and deep learning for time-series (TCN, Transformer) — rare and highly paid combination.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detector does not predict the crash. It detects the microstructure rot that precedes it — 200 to 500 ms before the price moves. That window is short, but long enough for a risk desk to hedge.”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FCEW-2026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2026-07-10T02:34:03Z</dcterms:created>
  <dcterms:modified xsi:type="dcterms:W3CDTF">2026-07-10T02:34:03Z</dcterms:modified>
</cp:coreProperties>
</file>